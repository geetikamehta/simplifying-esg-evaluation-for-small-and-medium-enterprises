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BBD3517-97D2-4078-9923-7560A15F4C93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4538ADE-E074-4F92-A615-C22E2D581260}" type="slidenum">
              <a:rPr lang="en-US" sz="1400" b="0" strike="noStrike" spc="-1">
                <a:latin typeface="Times New Roman"/>
              </a:rPr>
              <a:t>1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Name of the faculty [Group: G00] [Sem:2nd]</a:t>
            </a:r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Google Shape;11;p1"/>
          <p:cNvSpPr/>
          <p:nvPr/>
        </p:nvSpPr>
        <p:spPr>
          <a:xfrm rot="10800000" flipH="1">
            <a:off x="360" y="6705000"/>
            <a:ext cx="9143280" cy="19728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Google Shape;12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Google Shape;16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8" name="Google Shape;18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9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1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Google Shape;22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4" name="Google Shape;24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4;p14"/>
          <p:cNvSpPr/>
          <p:nvPr/>
        </p:nvSpPr>
        <p:spPr>
          <a:xfrm>
            <a:off x="0" y="1112362"/>
            <a:ext cx="9143640" cy="54493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Project Presentation of CO-OP Project at Industry (Module-2) (22CS421)</a:t>
            </a:r>
            <a:endParaRPr lang="en-IN" sz="18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endParaRPr lang="en-IN" sz="20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dirty="0">
                <a:latin typeface="TimesS"/>
              </a:rPr>
              <a:t>Simplifying ESG evaluation for Small and Medium Enterprises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br>
              <a:rPr sz="2000" dirty="0"/>
            </a:br>
            <a:r>
              <a:rPr lang="en-GB" sz="2000" dirty="0"/>
              <a:t> </a:t>
            </a:r>
            <a:r>
              <a:rPr lang="en-GB" dirty="0">
                <a:latin typeface="TimesS"/>
              </a:rPr>
              <a:t>Geetika Mehta</a:t>
            </a:r>
            <a:r>
              <a:rPr lang="en-US" sz="1800" b="0" strike="noStrike" spc="-1" dirty="0">
                <a:solidFill>
                  <a:srgbClr val="000000"/>
                </a:solidFill>
                <a:latin typeface="TimesS"/>
                <a:ea typeface="Arial"/>
              </a:rPr>
              <a:t>		  - </a:t>
            </a:r>
            <a:r>
              <a:rPr lang="en-GB" sz="1800" b="0" strike="noStrike" spc="-1" dirty="0">
                <a:solidFill>
                  <a:srgbClr val="000000"/>
                </a:solidFill>
                <a:latin typeface="TimesS"/>
                <a:ea typeface="Arial"/>
              </a:rPr>
              <a:t>2210990325</a:t>
            </a:r>
            <a:endParaRPr lang="en-IN" sz="1800" b="0" strike="noStrike" spc="-1" dirty="0">
              <a:latin typeface="TimesS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dirty="0">
                <a:latin typeface="TimesS"/>
              </a:rPr>
              <a:t> Devarsh Upadhyay                   </a:t>
            </a:r>
            <a:r>
              <a:rPr lang="en-US" spc="-1" dirty="0">
                <a:solidFill>
                  <a:srgbClr val="000000"/>
                </a:solidFill>
                <a:latin typeface="TimesS"/>
              </a:rPr>
              <a:t>- </a:t>
            </a:r>
            <a:r>
              <a:rPr lang="en-US" sz="1800" b="0" strike="noStrike" spc="-1" dirty="0">
                <a:solidFill>
                  <a:srgbClr val="000000"/>
                </a:solidFill>
                <a:latin typeface="TimesS"/>
                <a:ea typeface="Arial"/>
              </a:rPr>
              <a:t>2210991498</a:t>
            </a:r>
            <a:endParaRPr lang="en-IN" sz="1800" b="0" strike="noStrike" spc="-1" dirty="0">
              <a:latin typeface="TimesS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Supervised By</a:t>
            </a:r>
            <a:endParaRPr lang="en-IN" sz="18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Mr. Ashish Kumar</a:t>
            </a:r>
            <a:endParaRPr lang="en-IN" sz="18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Department of Computer Science and Engineering, </a:t>
            </a:r>
            <a:endParaRPr lang="en-IN" sz="2400" b="0" strike="noStrike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Chitkara University, Punjab</a:t>
            </a:r>
            <a:endParaRPr lang="en-IN" sz="2400" b="0" strike="noStrike" spc="-1" dirty="0">
              <a:latin typeface="Times New ROman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9;p15"/>
          <p:cNvSpPr/>
          <p:nvPr/>
        </p:nvSpPr>
        <p:spPr>
          <a:xfrm>
            <a:off x="-151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61" name="Google Shape;90;p1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CD4AE9B-08B9-4547-A63E-C947AFBBDB7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2" name="Google Shape;91;p15"/>
          <p:cNvSpPr/>
          <p:nvPr/>
        </p:nvSpPr>
        <p:spPr>
          <a:xfrm>
            <a:off x="0" y="83736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ESG stands for Environmental, Social, and Governance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Framework used to evaluate sustainability and ethical impact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Environmental: emissions, energy use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Social: employee welfare, human rights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Governance: policies, transparency 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96;p16"/>
          <p:cNvSpPr/>
          <p:nvPr/>
        </p:nvSpPr>
        <p:spPr>
          <a:xfrm>
            <a:off x="-97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Problem Statement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64" name="Google Shape;97;p16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190D9D3-DCCF-4D23-BF8C-F21768DE136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5" name="Google Shape;98;p16"/>
          <p:cNvSpPr/>
          <p:nvPr/>
        </p:nvSpPr>
        <p:spPr>
          <a:xfrm flipV="1">
            <a:off x="0" y="1034281"/>
            <a:ext cx="8838360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GB" sz="2000" b="0" strike="noStrike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BF794-25E9-8892-AB30-FC4ADC5801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9109" y="714700"/>
            <a:ext cx="8964891" cy="322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ESG frameworks are designed for large organizations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SMEs face: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structured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financial resources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awareness of ESG practices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to inaccurate or incomplete evaluation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Absence of a measurable approach to quantify ESG gap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3;p17"/>
          <p:cNvSpPr/>
          <p:nvPr/>
        </p:nvSpPr>
        <p:spPr>
          <a:xfrm>
            <a:off x="-162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Objectives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1B941E0-A7AB-4FAA-B7C3-6E9A86CF48F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8" name="Google Shape;105;p17"/>
          <p:cNvSpPr/>
          <p:nvPr/>
        </p:nvSpPr>
        <p:spPr>
          <a:xfrm>
            <a:off x="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FC7B8-1F3B-C63F-BE63-8B5B60A01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3610"/>
            <a:ext cx="8512404" cy="239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data-driven ESG evaluation model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 Exploratory Data Analysis (EDA)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Compute ESG scores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Classify organizations into Safe and Risk categories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Evaluate performance using Accuracy, Precision, and F1-score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10;p18"/>
          <p:cNvSpPr/>
          <p:nvPr/>
        </p:nvSpPr>
        <p:spPr>
          <a:xfrm>
            <a:off x="-144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Related Work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0" name="Google Shape;111;p18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2B9EFEA-C6C7-4798-95FB-F4CB1A736A31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1" name="Google Shape;112;p18"/>
          <p:cNvSpPr/>
          <p:nvPr/>
        </p:nvSpPr>
        <p:spPr>
          <a:xfrm rot="10800000">
            <a:off x="2129456" y="5534280"/>
            <a:ext cx="6690544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E62756-D72F-02EC-4B31-9A34C30D6E0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9682" y="885096"/>
            <a:ext cx="897431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study by Gunnar Friede, Timo Busch, and Alexander Bassen (2015) analyzed over 2000 studies and found that ESG practices have a non-negative, often positive, impact on financial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ESG frameworks are primarily designed for large organizations with structured data and dedicated resources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SMEs lack: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1. Standardized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2. Financial and technical resources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3. Structured ESG reporting mechanisms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4. Significant inconsistency exists in ESG scoring across different agencies and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Recent studies highlight the use of Machine Learning for ESG analysis, enabling better pattern     detection and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However, there is no integrated framework that: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ESG scoring, classification, and gap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Specifically targets SMEs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17;p19"/>
          <p:cNvSpPr/>
          <p:nvPr/>
        </p:nvSpPr>
        <p:spPr>
          <a:xfrm>
            <a:off x="97200" y="0"/>
            <a:ext cx="65628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BE3C5DE-FAB7-4634-93F1-B17898FD3BD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4" name="Google Shape;119;p19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Preprocessing → EDA → Machine Learning Model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→ ESG Gap Analysis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Data collected from global ESG sources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consistency and quality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Used for model training and analysis</a:t>
            </a:r>
          </a:p>
          <a:p>
            <a:pPr marL="457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24;p20"/>
          <p:cNvSpPr/>
          <p:nvPr/>
        </p:nvSpPr>
        <p:spPr>
          <a:xfrm>
            <a:off x="-442800" y="0"/>
            <a:ext cx="78228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6" name="Google Shape;125;p20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F69C053-D545-4962-B295-FA0305036CF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7" name="Google Shape;126;p20"/>
          <p:cNvSpPr/>
          <p:nvPr/>
        </p:nvSpPr>
        <p:spPr>
          <a:xfrm>
            <a:off x="161640" y="1080000"/>
            <a:ext cx="8982360" cy="51793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Phase 1: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ESG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sustainability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Environmental, social, and governance indicators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Data Preprocessing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ESG scores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categorical data into numerical form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Exploratory Data Analysis (EDA)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ESG scores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and correlations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 and anomalies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1;p21"/>
          <p:cNvSpPr/>
          <p:nvPr/>
        </p:nvSpPr>
        <p:spPr>
          <a:xfrm>
            <a:off x="-7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&amp; Discussion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9" name="Google Shape;132;p21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318B554-8C28-4C18-B83B-D4791DD0280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6164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3E186-EA6C-C931-65E7-BCF0FC0A5FD9}"/>
              </a:ext>
            </a:extLst>
          </p:cNvPr>
          <p:cNvSpPr txBox="1"/>
          <p:nvPr/>
        </p:nvSpPr>
        <p:spPr>
          <a:xfrm>
            <a:off x="144001" y="1080000"/>
            <a:ext cx="8189294" cy="574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Models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Regression for score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 for classification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for improved accuracy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ESG Scoring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Environmental, Social, Governance factors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threshold-based classification: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0–5: Safe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 Risk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ESG Gap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actual ESG score with benchmark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deviation from expected sustainability levels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ESG score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Safe/Risk classification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22"/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Conclusion &amp; Future Work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82" name="Google Shape;139;p22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96944B2-46A7-46EA-9AA4-18E071D145B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9000"/>
          </a:bodyPr>
          <a:lstStyle/>
          <a:p>
            <a:endParaRPr lang="en-GB" sz="2000" dirty="0"/>
          </a:p>
          <a:p>
            <a:endParaRPr lang="en-GB" sz="2000" dirty="0"/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Conclusion: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simplified ESG evaluation framework for SMEs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enhances accuracy and scalability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identification of sustainability gaps 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real-time 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deployment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advanced machine learning models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5;p23"/>
          <p:cNvSpPr/>
          <p:nvPr/>
        </p:nvSpPr>
        <p:spPr>
          <a:xfrm>
            <a:off x="-16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85" name="Google Shape;146;p2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6AEA817-3DB3-4E72-BC70-C76CDB960E1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124413" y="3089339"/>
            <a:ext cx="11245731" cy="67039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590ED-5C9A-0FBE-1028-D3351320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76" y="566679"/>
            <a:ext cx="81541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[1]Friede, G., Busch, T., &amp; Bassen, A. (2015). ESG and financial performance: Aggregated evidence from more than 2000 empirical studies.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[2]OECD (2021). ESG investing: Practices, progress and challenges.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Berg, F., Kölbel, J. F.,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Rigobon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(2022). Aggregate confusion: The divergence of ESG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[4]Johnson, M. P.,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Schaltegger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(2016). Sustainability management tools for SMEs.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[5]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Vinuesa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et al. (2020). Role of AI in achieving Sustainable Development Goals.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[6]World Bank (2023). World Development Indicators.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52;p24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Thank You!</a:t>
            </a:r>
            <a:endParaRPr lang="en-IN" sz="5400" b="0" strike="noStrike" spc="-1" dirty="0">
              <a:latin typeface="Arial"/>
            </a:endParaRPr>
          </a:p>
        </p:txBody>
      </p:sp>
      <p:sp>
        <p:nvSpPr>
          <p:cNvPr id="88" name="Google Shape;153;p24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E591B86-0DE4-4CDB-9069-19DF117F9FD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11</a:t>
            </a:fld>
            <a:endParaRPr lang="en-IN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727</Words>
  <Application>Microsoft Office PowerPoint</Application>
  <PresentationFormat>On-screen Show (4:3)</PresentationFormat>
  <Paragraphs>139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Times New Roman</vt:lpstr>
      <vt:lpstr>TimesS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Geetika</dc:creator>
  <dc:description/>
  <cp:lastModifiedBy>Geetika Mehta</cp:lastModifiedBy>
  <cp:revision>4</cp:revision>
  <dcterms:modified xsi:type="dcterms:W3CDTF">2026-05-03T07:53:29Z</dcterms:modified>
  <dc:language>en-IN</dc:language>
</cp:coreProperties>
</file>